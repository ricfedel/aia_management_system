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0"/>
            <a:ext cx="1280160" cy="274320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3474720"/>
            <a:ext cx="2286000" cy="166878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11480"/>
            <a:ext cx="1280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🌿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7040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AIA Management System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65176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Piattaforma digitale per la gestione integrata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delle Autorizzazioni Integrate Ambientali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5029200" cy="0"/>
          </a:xfrm>
          <a:prstGeom prst="line">
            <a:avLst/>
          </a:prstGeom>
          <a:noFill/>
          <a:ln w="25400">
            <a:solidFill>
              <a:srgbClr val="40916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Cliente  •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cosa parleremo oggi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329184" cy="329184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50392" y="118872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🌍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188720"/>
            <a:ext cx="3090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Contesto normativo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 e obblighi per le aziende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09160" y="1234440"/>
            <a:ext cx="329184" cy="329184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02352" y="118872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532120" y="1188720"/>
            <a:ext cx="3090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KPI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Visione unificata degli indicatori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1755648"/>
            <a:ext cx="329184" cy="329184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1755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0392" y="1709928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80160" y="1709928"/>
            <a:ext cx="3090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 AIA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Prescrizioni, scadenze, stabilimenti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09160" y="1755648"/>
            <a:ext cx="329184" cy="329184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09160" y="1755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102352" y="1709928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📡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532120" y="1709928"/>
            <a:ext cx="3090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Monitoraggio ambientale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Camini, dati, conformità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2276856"/>
            <a:ext cx="329184" cy="329184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2768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50392" y="2231136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🏗️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80160" y="2231136"/>
            <a:ext cx="3090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Produzione &amp; Rifiuti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Consumi, materie prime, rifiuti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709160" y="2276856"/>
            <a:ext cx="329184" cy="329184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09160" y="22768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02352" y="2231136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📂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532120" y="2231136"/>
            <a:ext cx="3090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Documentale &amp; Workflow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 documenti e processi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2798064"/>
            <a:ext cx="329184" cy="329184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2798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50392" y="2752344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📑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280160" y="2752344"/>
            <a:ext cx="3090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Reportistica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Relazione annuale e comunicazioni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709160" y="2798064"/>
            <a:ext cx="329184" cy="329184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09160" y="2798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02352" y="2752344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🛡️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532120" y="2752344"/>
            <a:ext cx="3090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Sicurezza &amp; Ruoli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 e architettura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Contesto Normativo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serve uno strumento dedicato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Cos'è l'AIA?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664208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L'Autorizzazione Integrata Ambientale (D.Lgs. 152/2006) è il provvedimento unico che autorizza l'esercizio di impianti soggetti a impatti ambientali significativi.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Obbliga le aziende a: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Monitorare emissioni, scarichi e consumi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Rispettare prescrizioni tecniche e limiti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Rendicontare periodicamente agli enti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Gestire documentazione e scadenze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931920" cy="3611880"/>
          </a:xfrm>
          <a:prstGeom prst="rect">
            <a:avLst/>
          </a:prstGeom>
          <a:solidFill>
            <a:srgbClr val="D8F3DC"/>
          </a:solidFill>
          <a:ln w="12700">
            <a:solidFill>
              <a:srgbClr val="C8E6C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29844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6A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Senza un sistema dedicato…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178308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Scadenze gestite su fogli Excel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0" y="22585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Documenti sparsi in cartelle condivise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273405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Rischio non conformità e sanzioni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320954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Nessuna visibilità in tempo reale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37760" y="368503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Difficoltà nella produzione dei report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416052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Perdita di storico e tracciabilità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Dashboard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unificata di tutti gli indicatori chiave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1920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188720"/>
            <a:ext cx="594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🏭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43000" y="1170432"/>
            <a:ext cx="1143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D6A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Stabilimenti attivi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42032" y="1143000"/>
            <a:ext cx="1920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633472" y="1188720"/>
            <a:ext cx="594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227832" y="1170432"/>
            <a:ext cx="1143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916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633472" y="17830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Prescrizioni aperte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26864" y="1143000"/>
            <a:ext cx="1920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18304" y="1188720"/>
            <a:ext cx="594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⏰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312664" y="1170432"/>
            <a:ext cx="1143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718304" y="17830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Scadenze imminenti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11696" y="1143000"/>
            <a:ext cx="1920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03136" y="1188720"/>
            <a:ext cx="594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⚠️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7397496" y="1170432"/>
            <a:ext cx="1143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803136" y="17830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conformità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2633472" cy="2286000"/>
          </a:xfrm>
          <a:prstGeom prst="rect">
            <a:avLst/>
          </a:prstGeom>
          <a:solidFill>
            <a:srgbClr val="F4FAF6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606040"/>
            <a:ext cx="54864" cy="228600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26700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94360" y="3172968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Tabelle in tempo reale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94360" y="3602736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Prescrizioni aperte, scadenze prossime e dati non conformi — tutti visibili in un colpo d'occhio senza aprire report.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46120" y="2606040"/>
            <a:ext cx="2633472" cy="2286000"/>
          </a:xfrm>
          <a:prstGeom prst="rect">
            <a:avLst/>
          </a:prstGeom>
          <a:solidFill>
            <a:srgbClr val="F4FAF6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46120" y="2606040"/>
            <a:ext cx="54864" cy="228600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83280" y="26700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3383280" y="3172968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Navigazione rapida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383280" y="3602736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su qualsiasi card o riga della tabella per accedere direttamente al modulo di gestione corrispondente.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035040" y="2606040"/>
            <a:ext cx="2633472" cy="2286000"/>
          </a:xfrm>
          <a:prstGeom prst="rect">
            <a:avLst/>
          </a:prstGeom>
          <a:solidFill>
            <a:srgbClr val="F4FAF6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35040" y="2606040"/>
            <a:ext cx="54864" cy="228600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72200" y="26700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📑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6172200" y="3172968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Relazione Annuale on-demand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172200" y="3602736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il PDF della relazione annuale direttamente dalla dashboard: seleziona stabilimento e anno, clic — pronto.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Modulo: Gestione AIA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Prescrizioni  •  Scadenze  •  Stabilimenti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26517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43000"/>
            <a:ext cx="2651760" cy="749808"/>
          </a:xfrm>
          <a:prstGeom prst="rect">
            <a:avLst/>
          </a:prstGeom>
          <a:solidFill>
            <a:srgbClr val="D8F3DC"/>
          </a:solidFill>
          <a:ln w="12700">
            <a:solidFill>
              <a:srgbClr val="C8E6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188720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🏭  Stabilimenti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1993392"/>
            <a:ext cx="24231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Anagrafica completa di ogni impianto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AIA: numero autorizzazione, ente emittente, scadenza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Responsabile ambientale associato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Collegamento a tutti i dati dell'impianto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143000"/>
            <a:ext cx="26517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143000"/>
            <a:ext cx="2651760" cy="749808"/>
          </a:xfrm>
          <a:prstGeom prst="rect">
            <a:avLst/>
          </a:prstGeom>
          <a:solidFill>
            <a:srgbClr val="D8F3DC"/>
          </a:solidFill>
          <a:ln w="12700">
            <a:solidFill>
              <a:srgbClr val="C8E6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1188720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📋  Prescrizioni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337560" y="1993392"/>
            <a:ext cx="24231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Registrazione di tutte le prescrizioni AIA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Classificazione per matrice ambientale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 stati: Aperta, In lavorazione, Chiusa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Priorità e assegnazione per stabilimento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in formato Excel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143000"/>
            <a:ext cx="26517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143000"/>
            <a:ext cx="2651760" cy="749808"/>
          </a:xfrm>
          <a:prstGeom prst="rect">
            <a:avLst/>
          </a:prstGeom>
          <a:solidFill>
            <a:srgbClr val="D8F3DC"/>
          </a:solidFill>
          <a:ln w="12700">
            <a:solidFill>
              <a:srgbClr val="C8E6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72200" y="1188720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⏰  Scadenze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172200" y="1993392"/>
            <a:ext cx="24231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degli adempimenti periodici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per scadenze nei prossimi 30 giorni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Tipi: campionamento, comunicazione, verifica…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in dashboard: numero scadenze imminenti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Modulo: Monitoraggio Ambientale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Camini  •  Punti di monitoraggio  •  Dati  •  Conformità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3931920" cy="1691640"/>
          </a:xfrm>
          <a:prstGeom prst="rect">
            <a:avLst/>
          </a:prstGeom>
          <a:solidFill>
            <a:srgbClr val="F4FAF6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43000"/>
            <a:ext cx="54864" cy="169164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234440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🏭  Anagrafica Camini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30352" y="170992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Censimento completo di tutti i punti di emissione. Dati tecnici, riferimenti normativi e collegamento alle misure di monitoraggio.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54880" y="1143000"/>
            <a:ext cx="3931920" cy="1691640"/>
          </a:xfrm>
          <a:prstGeom prst="rect">
            <a:avLst/>
          </a:prstGeom>
          <a:solidFill>
            <a:srgbClr val="F4FAF6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43000"/>
            <a:ext cx="54864" cy="169164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9472" y="1234440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📍  Punti di Monitoraggio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19472" y="170992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 dei punti di campionamento per acqua, suolo, rumore e aria. Classificazione e tracciabilità delle misurazioni.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3017520"/>
            <a:ext cx="3931920" cy="1691640"/>
          </a:xfrm>
          <a:prstGeom prst="rect">
            <a:avLst/>
          </a:prstGeom>
          <a:solidFill>
            <a:srgbClr val="F4FAF6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3017520"/>
            <a:ext cx="54864" cy="169164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" y="3108960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📈  Dati Ambientali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30352" y="358444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Inserimento e storico delle misurazioni. Confronto automatico con i limiti autorizzati. Rilevamento automatico delle non conformità.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0" y="3017520"/>
            <a:ext cx="3931920" cy="1691640"/>
          </a:xfrm>
          <a:prstGeom prst="rect">
            <a:avLst/>
          </a:prstGeom>
          <a:solidFill>
            <a:srgbClr val="F4FAF6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017520"/>
            <a:ext cx="54864" cy="169164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9472" y="3108960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 Conformità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919472" y="358444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di conformità per parametro e stabilimento. Dashboard con semaforo visivo: Conforme, Attenzione, Non Conforme.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Modulo: Produzione &amp; Consumi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Materie prime  •  Produzione  •  Rifiuti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Tracciabilità completa dei flussi di materiali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modulo consente il monitoraggio dei consumi di materie prime, energia e volumi produttivi, con storico annuale per stabilimento.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Funzionalità principali: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Registrazione consumi energetici e idrici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Tracciamento materie prime e semilavorati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Volumi produttivi per periodo e linea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 rifiuti: codice CER, quantità, destinazione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dei dati per la relazione annuale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931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188720"/>
            <a:ext cx="54864" cy="82296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188720"/>
            <a:ext cx="594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486400" y="12801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 energetici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MWh, gas, gasolio per anno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2148840"/>
            <a:ext cx="3931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2148840"/>
            <a:ext cx="54864" cy="82296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2148840"/>
            <a:ext cx="594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💧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0" y="22402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 idrici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Prelievi e scarichi m³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754880" y="3108960"/>
            <a:ext cx="3931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3108960"/>
            <a:ext cx="54864" cy="82296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3108960"/>
            <a:ext cx="594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🏭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486400" y="32004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Volumi produttivi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linea, turno, mese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4069080"/>
            <a:ext cx="3931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4069080"/>
            <a:ext cx="54864" cy="82296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4069080"/>
            <a:ext cx="594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♻️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5486400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 rifiuti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CER, smaltitori, quantità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Modulo: Documentale &amp; Workflow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Archiviazione  •  Ricerca  •  Processi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26517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43000"/>
            <a:ext cx="2651760" cy="749808"/>
          </a:xfrm>
          <a:prstGeom prst="rect">
            <a:avLst/>
          </a:prstGeom>
          <a:solidFill>
            <a:srgbClr val="D8F3DC"/>
          </a:solidFill>
          <a:ln w="12700">
            <a:solidFill>
              <a:srgbClr val="C8E6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188720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📁  Archiviazione Documenti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993392"/>
            <a:ext cx="24231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e catalogazione per tipo, stabilimento, anno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 supportati: PDF, Word, Excel, immagini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Collegamento a prescrizioni specifiche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Ricerca full-text e per filtri combinati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143000"/>
            <a:ext cx="26517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143000"/>
            <a:ext cx="2651760" cy="749808"/>
          </a:xfrm>
          <a:prstGeom prst="rect">
            <a:avLst/>
          </a:prstGeom>
          <a:solidFill>
            <a:srgbClr val="D8F3DC"/>
          </a:solidFill>
          <a:ln w="12700">
            <a:solidFill>
              <a:srgbClr val="C8E6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1188720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🔍  Ricerca Avanzata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37560" y="1993392"/>
            <a:ext cx="24231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Filtri per stabilimento, tipo documento, anno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Ricerca per parola chiave sul nome file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Visualizzazione in lista con link diretto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 immediato al file originale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143000"/>
            <a:ext cx="26517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143000"/>
            <a:ext cx="2651760" cy="749808"/>
          </a:xfrm>
          <a:prstGeom prst="rect">
            <a:avLst/>
          </a:prstGeom>
          <a:solidFill>
            <a:srgbClr val="D8F3DC"/>
          </a:solidFill>
          <a:ln w="12700">
            <a:solidFill>
              <a:srgbClr val="C8E6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72200" y="1188720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⚙️  Workflow &amp; Processi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1993392"/>
            <a:ext cx="24231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 di processi operativi strutturati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Collegamento documenti ↔ processi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Tracciabilità degli stati di avanzamento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documentale per audit e ispezioni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Modulo: Reportistica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Relazione annuale  •  Export  •  Comunicazioni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5029200" cy="2148840"/>
          </a:xfrm>
          <a:prstGeom prst="rect">
            <a:avLst/>
          </a:prstGeom>
          <a:solidFill>
            <a:srgbClr val="D8F3DC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234440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📑  Relazione Annuale AIA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Generazione automatica del documento annuale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Raccoglie tutti i dati inseriti nell'anno: produzione, monitoraggi, rifiuti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Esportazione PDF con un clic dalla dashboard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Selezionabile per stabilimento e anno di riferimento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3429000"/>
            <a:ext cx="50292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3429000"/>
            <a:ext cx="54864" cy="150876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5204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📬  Comunicazioni verso gli enti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950208"/>
            <a:ext cx="4663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Archiviazione di tutte le comunicazioni ufficiali verso ARPA, Provincia e Regione con data, oggetto e allegato. Storico completo per ogni stabilimento.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0" y="1143000"/>
            <a:ext cx="30175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669280" y="1143000"/>
            <a:ext cx="54864" cy="114300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0" y="1143000"/>
            <a:ext cx="548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355080" y="12801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Excel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dati tabellari per prescrizioni, misure e scadenze in formato .xlsx.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0" y="2441448"/>
            <a:ext cx="30175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669280" y="2441448"/>
            <a:ext cx="54864" cy="114300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2441448"/>
            <a:ext cx="548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📥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355080" y="2578608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immediato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i report disponibili per il download diretto senza attese.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0" y="3739896"/>
            <a:ext cx="30175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669280" y="3739896"/>
            <a:ext cx="54864" cy="114300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60720" y="3739896"/>
            <a:ext cx="548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355080" y="3877056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Storico completo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storici per anno e stabilimento sempre consultabili.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Sicurezza &amp; Gestione Ruoli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Controllo accessi  •  Multi-stabilimento  •  JWT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26517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43000"/>
            <a:ext cx="2651760" cy="82296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188720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👑  ADMIN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2057400"/>
            <a:ext cx="24231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 completo a tutti i moduli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 utenti e assegnazione ruoli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 a tutti gli stabilimenti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Configurazione del sistema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Eliminazione dati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143000"/>
            <a:ext cx="26517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143000"/>
            <a:ext cx="2651760" cy="82296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1188720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🔑  RESPONSABILE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337560" y="2057400"/>
            <a:ext cx="24231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Inserimento e modifica dati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 agli stabilimenti assegnati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Creazione prescrizioni e scadenze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Caricamento e gestione documenti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Generazione report e relazione annuale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143000"/>
            <a:ext cx="26517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143000"/>
            <a:ext cx="2651760" cy="82296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72200" y="1188720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👁️  OPERATORE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172200" y="2057400"/>
            <a:ext cx="24231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 lettura sui dati assegnati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Visualizzazione report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Inserimento dati ambientali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 limitato agli stabilimenti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modifica di configurazione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Architettura &amp; Infrastruttura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Tecnologie moderne  •  Cloud-ready  •  Sicuro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39776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88720"/>
            <a:ext cx="3977640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35331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🅰️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143000" y="137160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Frontend   </a:t>
            </a:r>
            <a:pPr indent="0" marL="0">
              <a:buNone/>
            </a:pPr>
            <a:r>
              <a:rPr lang="en-US" sz="1500" b="1" dirty="0">
                <a:solidFill>
                  <a:srgbClr val="DD00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Angular 19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93852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reattiva con componenti standalone e Signals. Interfaccia responsive per desktop e tablet.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17720" y="1188720"/>
            <a:ext cx="39776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1188720"/>
            <a:ext cx="3977640" cy="91440"/>
          </a:xfrm>
          <a:prstGeom prst="rect">
            <a:avLst/>
          </a:prstGeom>
          <a:solidFill>
            <a:srgbClr val="6DB33F"/>
          </a:solidFill>
          <a:ln w="12700">
            <a:solidFill>
              <a:srgbClr val="6DB33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35331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☕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94960" y="137160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   </a:t>
            </a:r>
            <a:pPr indent="0" marL="0">
              <a:buNone/>
            </a:pPr>
            <a:r>
              <a:rPr lang="en-US" sz="1500" b="1" dirty="0">
                <a:solidFill>
                  <a:srgbClr val="6DB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Spring Boot 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93852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sicura con Spring Security JWT. Gestione ruoli e accesso multi-stabilimento.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063240"/>
            <a:ext cx="39776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3063240"/>
            <a:ext cx="3977640" cy="9144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22783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🐘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143000" y="324612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   </a:t>
            </a:r>
            <a:pPr indent="0" marL="0">
              <a:buNone/>
            </a:pPr>
            <a:r>
              <a:rPr lang="en-US" sz="1500" b="1" dirty="0">
                <a:solidFill>
                  <a:srgbClr val="3367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381304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relazionale robusto con backup automatici. Schema gestito con migrazione Flyway.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17720" y="3063240"/>
            <a:ext cx="39776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17720" y="3063240"/>
            <a:ext cx="3977640" cy="91440"/>
          </a:xfrm>
          <a:prstGeom prst="rect">
            <a:avLst/>
          </a:prstGeom>
          <a:solidFill>
            <a:srgbClr val="2496ED"/>
          </a:solidFill>
          <a:ln w="12700">
            <a:solidFill>
              <a:srgbClr val="2496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322783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🐳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5394960" y="324612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Infrastruttura   </a:t>
            </a:r>
            <a:pPr indent="0" marL="0">
              <a:buNone/>
            </a:pPr>
            <a:r>
              <a:rPr lang="en-US" sz="1500" b="1" dirty="0">
                <a:solidFill>
                  <a:srgbClr val="2496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Docker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381304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orchestration con docker-compose. Deploy ripetibile su qualsiasi server Linux.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Tutti i moduli a colpo d'occhio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piattaforma integrata per ogni esigenza AIA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371600"/>
            <a:ext cx="1325880" cy="1600200"/>
          </a:xfrm>
          <a:prstGeom prst="rect">
            <a:avLst/>
          </a:prstGeom>
          <a:solidFill>
            <a:srgbClr val="2D6A4F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554480"/>
            <a:ext cx="13258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20040" y="226771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755648" y="1371600"/>
            <a:ext cx="1325880" cy="1600200"/>
          </a:xfrm>
          <a:prstGeom prst="rect">
            <a:avLst/>
          </a:prstGeom>
          <a:solidFill>
            <a:srgbClr val="2D6A4F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55648" y="1554480"/>
            <a:ext cx="13258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🏭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755648" y="226771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Stabilimenti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91256" y="1371600"/>
            <a:ext cx="1325880" cy="1600200"/>
          </a:xfrm>
          <a:prstGeom prst="rect">
            <a:avLst/>
          </a:prstGeom>
          <a:solidFill>
            <a:srgbClr val="2D6A4F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91256" y="1554480"/>
            <a:ext cx="13258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📋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191256" y="226771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Prescrizioni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26864" y="1371600"/>
            <a:ext cx="1325880" cy="1600200"/>
          </a:xfrm>
          <a:prstGeom prst="rect">
            <a:avLst/>
          </a:prstGeom>
          <a:solidFill>
            <a:srgbClr val="2D6A4F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26864" y="1554480"/>
            <a:ext cx="13258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⏰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626864" y="226771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Scadenze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62472" y="1371600"/>
            <a:ext cx="1325880" cy="1600200"/>
          </a:xfrm>
          <a:prstGeom prst="rect">
            <a:avLst/>
          </a:prstGeom>
          <a:solidFill>
            <a:srgbClr val="2D6A4F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62472" y="1554480"/>
            <a:ext cx="13258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📡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062472" y="226771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Monitoraggio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498080" y="1371600"/>
            <a:ext cx="1325880" cy="1600200"/>
          </a:xfrm>
          <a:prstGeom prst="rect">
            <a:avLst/>
          </a:prstGeom>
          <a:solidFill>
            <a:srgbClr val="2D6A4F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0" y="1554480"/>
            <a:ext cx="13258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✅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7498080" y="226771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Conformità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3200400"/>
            <a:ext cx="1325880" cy="1600200"/>
          </a:xfrm>
          <a:prstGeom prst="rect">
            <a:avLst/>
          </a:prstGeom>
          <a:solidFill>
            <a:srgbClr val="2D6A4F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3383280"/>
            <a:ext cx="13258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🏗️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320040" y="409651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Produzione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755648" y="3200400"/>
            <a:ext cx="1325880" cy="1600200"/>
          </a:xfrm>
          <a:prstGeom prst="rect">
            <a:avLst/>
          </a:prstGeom>
          <a:solidFill>
            <a:srgbClr val="2D6A4F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755648" y="3383280"/>
            <a:ext cx="13258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♻️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1755648" y="409651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Rifiuti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191256" y="3200400"/>
            <a:ext cx="1325880" cy="1600200"/>
          </a:xfrm>
          <a:prstGeom prst="rect">
            <a:avLst/>
          </a:prstGeom>
          <a:solidFill>
            <a:srgbClr val="2D6A4F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91256" y="3383280"/>
            <a:ext cx="13258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📂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3191256" y="409651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626864" y="3200400"/>
            <a:ext cx="1325880" cy="1600200"/>
          </a:xfrm>
          <a:prstGeom prst="rect">
            <a:avLst/>
          </a:prstGeom>
          <a:solidFill>
            <a:srgbClr val="2D6A4F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26864" y="3383280"/>
            <a:ext cx="13258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⚙️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4626864" y="409651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062472" y="3200400"/>
            <a:ext cx="1325880" cy="1600200"/>
          </a:xfrm>
          <a:prstGeom prst="rect">
            <a:avLst/>
          </a:prstGeom>
          <a:solidFill>
            <a:srgbClr val="2D6A4F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62472" y="3383280"/>
            <a:ext cx="13258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📑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6062472" y="409651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Reportistica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498080" y="3200400"/>
            <a:ext cx="1325880" cy="1600200"/>
          </a:xfrm>
          <a:prstGeom prst="rect">
            <a:avLst/>
          </a:prstGeom>
          <a:solidFill>
            <a:srgbClr val="2D6A4F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98080" y="3383280"/>
            <a:ext cx="13258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🛡️</a:t>
            </a:r>
            <a:endParaRPr lang="en-US" sz="2800" dirty="0"/>
          </a:p>
        </p:txBody>
      </p:sp>
      <p:sp>
        <p:nvSpPr>
          <p:cNvPr id="39" name="Text 37"/>
          <p:cNvSpPr/>
          <p:nvPr/>
        </p:nvSpPr>
        <p:spPr>
          <a:xfrm>
            <a:off x="7498080" y="409651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Utenti &amp; Ruoli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0"/>
            <a:ext cx="1371600" cy="274320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3474720"/>
            <a:ext cx="2286000" cy="166878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1280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🌿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Grazie per l'attenzione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Siamo a disposizione per domande, approfondimenti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per pianificare insieme la fase di avvio.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474720"/>
            <a:ext cx="4572000" cy="0"/>
          </a:xfrm>
          <a:prstGeom prst="line">
            <a:avLst/>
          </a:prstGeom>
          <a:noFill/>
          <a:ln w="25400">
            <a:solidFill>
              <a:srgbClr val="40916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7033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  Domande &amp; Approfondimenti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AIA Management System - Presentazione Cliente</dc:title>
  <dc:subject>PptxGenJS Presentation</dc:subject>
  <dc:creator>AIA Management</dc:creator>
  <cp:lastModifiedBy>AIA Management</cp:lastModifiedBy>
  <cp:revision>1</cp:revision>
  <dcterms:created xsi:type="dcterms:W3CDTF">2026-03-14T19:15:57Z</dcterms:created>
  <dcterms:modified xsi:type="dcterms:W3CDTF">2026-03-14T19:15:57Z</dcterms:modified>
</cp:coreProperties>
</file>