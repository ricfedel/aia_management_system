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20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1280160" cy="2743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474720"/>
            <a:ext cx="2286000" cy="16687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🌿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AIA Management System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 digitale per la gestione integrata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delle Autorizzazioni Integrate Ambientali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5029200" cy="0"/>
          </a:xfrm>
          <a:prstGeom prst="line">
            <a:avLst/>
          </a:prstGeom>
          <a:noFill/>
          <a:ln w="25400">
            <a:solidFill>
              <a:srgbClr val="4091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Cliente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cosa parleremo oggi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29184" cy="32918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" y="118872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188720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 normativo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 e obblighi per le aziende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329184" cy="32918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02352" y="118872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2120" y="1188720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KPI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 unificata degli indicatori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55648"/>
            <a:ext cx="329184" cy="32918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" y="1709928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1709928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AIA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Prescrizioni, scadenze, stabilimenti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755648"/>
            <a:ext cx="329184" cy="32918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02352" y="1709928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32120" y="1709928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 ambientale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Camini, dati, conformità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276856"/>
            <a:ext cx="329184" cy="32918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276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" y="2231136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🏗️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2231136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Produzione &amp; Rifiuti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Consumi, materie prime, rifiuti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2276856"/>
            <a:ext cx="329184" cy="32918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276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02352" y="2231136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32120" y="2231136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Documentale &amp; Workflow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documenti e processi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2798064"/>
            <a:ext cx="329184" cy="32918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0392" y="2752344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80160" y="2752344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Wiki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intelligente sulla conoscenza aziendale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2798064"/>
            <a:ext cx="329184" cy="32918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02352" y="2752344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📑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532120" y="2752344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Reportistica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Relazione annuale e comunicazioni</a:t>
            </a:r>
            <a:endParaRPr lang="en-US" sz="1300" dirty="0"/>
          </a:p>
        </p:txBody>
      </p:sp>
      <p:sp>
        <p:nvSpPr>
          <p:cNvPr id="37" name="Shape 27"/>
          <p:cNvSpPr/>
          <p:nvPr/>
        </p:nvSpPr>
        <p:spPr>
          <a:xfrm>
            <a:off x="457200" y="3319271"/>
            <a:ext cx="329184" cy="32918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457200" y="331927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850392" y="3273551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40" name="Text 30"/>
          <p:cNvSpPr/>
          <p:nvPr/>
        </p:nvSpPr>
        <p:spPr>
          <a:xfrm>
            <a:off x="1280160" y="3273551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 &amp; Ruoli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 e architettura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Contesto Normativo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serve uno strumento dedicato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Cos'è l'AIA?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L'Autorizzazione Integrata Ambientale (D.Lgs. 152/2006) è il provvedimento unico che autorizza l'esercizio di impianti soggetti a impatti ambientali significativi.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Obbliga le aziende a: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Monitorare emissioni, scarichi e consumi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Rispettare prescrizioni tecniche e limiti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Rendicontare periodicamente agli enti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Gestire documentazione e scadenze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611880"/>
          </a:xfrm>
          <a:prstGeom prst="rect">
            <a:avLst/>
          </a:prstGeom>
          <a:solidFill>
            <a:srgbClr val="D8F3DC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984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Senza un sistema dedicato…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7830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Scadenze gestite su fogli Excel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22585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Documenti sparsi in cartelle condivise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7340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Rischio non conformità e sanzioni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320954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Nessuna visibilità in tempo reale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368503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Difficoltà nella produzione dei report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416052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Perdita di storico e tracciabilità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unificata di tutti gli indicatori chiave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🏭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17043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Stabilimenti attivi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42032" y="114300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33472" y="1188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27832" y="117043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33472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Prescrizioni aperte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14300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18304" y="1188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12664" y="117043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18304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Scadenze imminenti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11696" y="114300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1188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97496" y="117043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03136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conformità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2633472" cy="228600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606040"/>
            <a:ext cx="54864" cy="22860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94360" y="317296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Tabelle in tempo reale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3602736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Prescrizioni aperte, scadenze prossime e dati non conformi — tutti visibili in un colpo d'occhio senza aprire report.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2606040"/>
            <a:ext cx="2633472" cy="228600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2606040"/>
            <a:ext cx="54864" cy="22860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383280" y="317296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Navigazione rapida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83280" y="3602736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su qualsiasi card o riga della tabella per accedere direttamente al modulo di gestione corrispondente.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2606040"/>
            <a:ext cx="2633472" cy="228600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2606040"/>
            <a:ext cx="54864" cy="22860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📑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172200" y="317296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Relazione Annuale on-demand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72200" y="3602736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il PDF della relazione annuale direttamente dalla dashboard: seleziona stabilimento e anno, clic — pronto.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Modulo: Gestione AIA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Prescrizioni  •  Scadenze  •  Stabilimenti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749808"/>
          </a:xfrm>
          <a:prstGeom prst="rect">
            <a:avLst/>
          </a:prstGeom>
          <a:solidFill>
            <a:srgbClr val="D8F3DC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🏭  Stabilimenti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Anagrafica completa di ogni impianto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AIA: numero autorizzazione, ente emittente, scadenza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Responsabile ambientale associato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Collegamento a tutti i dati dell'impianto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651760" cy="749808"/>
          </a:xfrm>
          <a:prstGeom prst="rect">
            <a:avLst/>
          </a:prstGeom>
          <a:solidFill>
            <a:srgbClr val="D8F3DC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8872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Prescrizioni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1993392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Registrazione di tutte le prescrizioni AIA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 per matrice ambientale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stati: Aperta, In lavorazione, Chiusa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Priorità e assegnazione per stabilimento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in formato Excel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143000"/>
            <a:ext cx="2651760" cy="749808"/>
          </a:xfrm>
          <a:prstGeom prst="rect">
            <a:avLst/>
          </a:prstGeom>
          <a:solidFill>
            <a:srgbClr val="D8F3DC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18872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⏰  Scadenze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2200" y="1993392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degli adempimenti periodici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per scadenze nei prossimi 30 giorni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Tipi: campionamento, comunicazione, verifica…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in dashboard: numero scadenze imminenti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Modulo: Monitoraggio Ambientale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Camini  •  Punti di monitoraggio  •  Dati  •  Conformità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169164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" cy="16916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344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🏭  Anagrafica Camini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17099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Censimento completo di tutti i punti di emissione. Dati tecnici, riferimenti normativi e collegamento alle misure di monitoraggio.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931920" cy="169164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54864" cy="16916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2344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📍  Punti di Monitoraggio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19472" y="17099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dei punti di campionamento per acqua, suolo, rumore e aria. Classificazione e tracciabilità delle misurazioni.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3931920" cy="169164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17520"/>
            <a:ext cx="54864" cy="16916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10896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 Dati Ambientali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0352" y="358444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 e storico delle misurazioni. Confronto automatico con i limiti autorizzati. Rilevamento automatico delle non conformità.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3931920" cy="169164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17520"/>
            <a:ext cx="54864" cy="16916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10896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Conformità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19472" y="358444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di conformità per parametro e stabilimento. Dashboard con semaforo visivo: Conforme, Attenzione, Non Conforme.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Modulo: Produzione &amp; Consumi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Materie prime  •  Produzione  •  Rifiuti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Tracciabilità completa dei flussi di materiali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modulo consente il monitoraggio dei consumi di materie prime, energia e volumi produttivi, con storico annuale per stabilimento.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Funzionalità principali: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Registrazione consumi energetici e idrici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Tracciamento materie prime e semilavorati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Volumi produttivi per periodo e linea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rifiuti: codice CER, quantità, destinazione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dei dati per la relazione annuale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54864" cy="8229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18872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0" y="1280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 energetici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MWh, gas, gasolio per anno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14884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148840"/>
            <a:ext cx="54864" cy="8229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14884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💧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0" y="2240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 idrici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Prelievi e scarichi m³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10896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108960"/>
            <a:ext cx="54864" cy="8229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10896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🏭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0" y="3200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Volumi produttivi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linea, turno, mese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406908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4069080"/>
            <a:ext cx="54864" cy="8229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406908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♻️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86400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rifiuti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CER, smaltitori, quantità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Modulo: Documentale &amp;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Archiviazione  •  Ricerca  •  Processi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749808"/>
          </a:xfrm>
          <a:prstGeom prst="rect">
            <a:avLst/>
          </a:prstGeom>
          <a:solidFill>
            <a:srgbClr val="D8F3DC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📁  Archiviazione Documenti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 catalogazione per tipo, stabilimento, anno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 supportati: PDF, Word, Excel, immagini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Collegamento a prescrizioni specifiche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full-text e per filtri combinati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651760" cy="749808"/>
          </a:xfrm>
          <a:prstGeom prst="rect">
            <a:avLst/>
          </a:prstGeom>
          <a:solidFill>
            <a:srgbClr val="D8F3DC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8872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 Ricerca Avanzata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993392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Filtri per stabilimento, tipo documento, anno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per parola chiave sul nome file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Visualizzazione in lista con link diretto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immediato al file originale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143000"/>
            <a:ext cx="2651760" cy="749808"/>
          </a:xfrm>
          <a:prstGeom prst="rect">
            <a:avLst/>
          </a:prstGeom>
          <a:solidFill>
            <a:srgbClr val="D8F3DC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18872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⚙️  Workflow &amp; Processi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1993392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Definizione di processi operativi strutturati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Collegamento documenti ↔ processi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Tracciabilità degli stati di avanzamento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documentale per audit e ispezioni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Modulo: AI Wiki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Conoscenza aziendale  •  Chat intelligente  •  Report automatici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749808"/>
          </a:xfrm>
          <a:prstGeom prst="rect">
            <a:avLst/>
          </a:prstGeom>
          <a:solidFill>
            <a:srgbClr val="D8F3DC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 Wiki della Conoscenza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Pagine generate automaticamente da documenti, prescrizioni, scadenze e dati ambientali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Collegate in un grafo di conoscenza navigabile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Aggiornamento automatico ad ogni nuovo documento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 sempre tracciabili e verificabili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651760" cy="749808"/>
          </a:xfrm>
          <a:prstGeom prst="rect">
            <a:avLst/>
          </a:prstGeom>
          <a:solidFill>
            <a:srgbClr val="D8F3DC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8872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Chat sui propri dati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993392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 in linguaggio naturale: "quali prescrizioni scadono questo mese?"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Risposte basate esclusivamente sui dati aziendali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 citate in ogni risposta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mirata per tag e stabilimento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143000"/>
            <a:ext cx="2651760" cy="749808"/>
          </a:xfrm>
          <a:prstGeom prst="rect">
            <a:avLst/>
          </a:prstGeom>
          <a:solidFill>
            <a:srgbClr val="D8F3DC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18872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 Assistente intelligente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1993392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grafici e previsioni sugli andamenti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Bozze di report Word e presentazioni pronte da scaricare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restano nel database aziendale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Possibilità di AI on-premise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Modulo: Reportistica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Relazione annuale  •  Export  •  Comunicazioni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029200" cy="2148840"/>
          </a:xfrm>
          <a:prstGeom prst="rect">
            <a:avLst/>
          </a:prstGeom>
          <a:solidFill>
            <a:srgbClr val="D8F3DC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📑  Relazione Annuale AIA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automatica del documento annuale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Raccoglie tutti i dati inseriti nell'anno: produzione, monitoraggi, rifiuti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Esportazione PDF con un clic dalla dashboard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Selezionabile per stabilimento e anno di riferimento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429000"/>
            <a:ext cx="5029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3429000"/>
            <a:ext cx="54864" cy="15087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5204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📬  Comunicazioni verso gli enti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950208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Archiviazione di tutte le comunicazioni ufficiali verso ARPA, Provincia e Regione con data, oggetto e allegato. Storico completo per ogni stabilimento.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143000"/>
            <a:ext cx="3017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1143000"/>
            <a:ext cx="54864" cy="11430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143000"/>
            <a:ext cx="548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55080" y="12801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Excel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dati tabellari per prescrizioni, misure e scadenze in formato .xlsx.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0" y="2441448"/>
            <a:ext cx="3017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2441448"/>
            <a:ext cx="54864" cy="11430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441448"/>
            <a:ext cx="548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55080" y="257860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immediato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report disponibili per il download diretto senza attese.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3739896"/>
            <a:ext cx="3017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3739896"/>
            <a:ext cx="54864" cy="11430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3739896"/>
            <a:ext cx="548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55080" y="3877056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Storico completo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storici per anno e stabilimento sempre consultabili.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Sicurezza &amp; Gestione Ruoli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accessi  •  Multi-stabilimento  •  JWT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8229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👑  ADMIN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completo a tutti i moduli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utenti e assegnazione ruoli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a tutti gli stabilimenti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del sistema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Eliminazione dati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651760" cy="8229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887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RESPONSABILE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205740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 e modifica dati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agli stabilimenti assegnati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Creazione prescrizioni e scadenze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Caricamento e gestione documenti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report e relazione annuale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143000"/>
            <a:ext cx="2651760" cy="8229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1887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👁️  OPERATORE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72200" y="205740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 lettura sui dati assegnati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Visualizzazione report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 dati ambientali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limitato agli stabilimenti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modifica di configurazione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Architettura &amp; Infrastruttura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Tecnologie moderne  •  Cloud-ready  •  Sicuro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3977640" cy="91440"/>
          </a:xfrm>
          <a:prstGeom prst="rect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930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🅰️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43000" y="130759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  </a:t>
            </a:r>
            <a:pPr indent="0" marL="0">
              <a:buNone/>
            </a:pPr>
            <a:r>
              <a:rPr lang="en-US" sz="1500" b="1" dirty="0">
                <a:solidFill>
                  <a:srgbClr val="DD00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Angular 19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5623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reattiva con componenti standalone e Signals. Interfaccia responsive per desktop e tablet.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170432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170432"/>
            <a:ext cx="3977640" cy="914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8930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☕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94960" y="130759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  </a:t>
            </a:r>
            <a:pPr indent="0" marL="0">
              <a:buNone/>
            </a:pPr>
            <a:r>
              <a:rPr lang="en-US" sz="1500" b="1" dirty="0">
                <a:solidFill>
                  <a:srgbClr val="6DB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 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85623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sicura con Spring Security JWT. Gestione ruoli e accesso multi-stabilimento.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679192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79192"/>
            <a:ext cx="3977640" cy="9144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980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🐘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43000" y="281635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  </a:t>
            </a:r>
            <a:pPr indent="0" marL="0">
              <a:buNone/>
            </a:pPr>
            <a:r>
              <a:rPr lang="en-US" sz="1500" b="1" dirty="0">
                <a:solidFill>
                  <a:srgbClr val="3367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36499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relazionale robusto con backup automatici. Schema gestito con migrazione Flyway.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2679192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679192"/>
            <a:ext cx="3977640" cy="9144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7980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🐳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394960" y="281635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Infrastruttura   </a:t>
            </a:r>
            <a:pPr indent="0" marL="0">
              <a:buNone/>
            </a:pPr>
            <a:r>
              <a:rPr lang="en-US" sz="1500" b="1" dirty="0">
                <a:solidFill>
                  <a:srgbClr val="2496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36499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 con docker-compose. Deploy ripetibile su qualsiasi server Linux.</a:t>
            </a:r>
            <a:endParaRPr lang="en-US" sz="1200" dirty="0"/>
          </a:p>
        </p:txBody>
      </p:sp>
      <p:sp>
        <p:nvSpPr>
          <p:cNvPr id="25" name="Shape 3"/>
          <p:cNvSpPr/>
          <p:nvPr/>
        </p:nvSpPr>
        <p:spPr>
          <a:xfrm>
            <a:off x="365760" y="42062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4"/>
          <p:cNvSpPr/>
          <p:nvPr/>
        </p:nvSpPr>
        <p:spPr>
          <a:xfrm>
            <a:off x="365760" y="4206240"/>
            <a:ext cx="8229600" cy="914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7" name="Text 5"/>
          <p:cNvSpPr/>
          <p:nvPr/>
        </p:nvSpPr>
        <p:spPr>
          <a:xfrm>
            <a:off x="502920" y="43159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8" name="Text 6"/>
          <p:cNvSpPr/>
          <p:nvPr/>
        </p:nvSpPr>
        <p:spPr>
          <a:xfrm>
            <a:off x="1143000" y="4297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Modulo AI   </a:t>
            </a:r>
            <a:pPr indent="0" marL="0">
              <a:buNone/>
            </a:pPr>
            <a:r>
              <a:rPr lang="en-US" sz="1500" b="1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generativa</a:t>
            </a:r>
            <a:endParaRPr lang="en-US" sz="1100" dirty="0"/>
          </a:p>
        </p:txBody>
      </p:sp>
      <p:sp>
        <p:nvSpPr>
          <p:cNvPr id="29" name="Text 7"/>
          <p:cNvSpPr/>
          <p:nvPr/>
        </p:nvSpPr>
        <p:spPr>
          <a:xfrm>
            <a:off x="3931920" y="42976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di conoscenza vettoriale nel database aziendale, embeddings locali, risposte con fonti verificabili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Tutti i moduli a colpo d'occhio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piattaforma integrata per ogni esigenza AIA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9184" y="1371600"/>
            <a:ext cx="1133856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" y="1554480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9184" y="226771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1371600"/>
            <a:ext cx="1133856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554480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54480" y="226771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Stabilimenti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79776" y="1371600"/>
            <a:ext cx="1133856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9776" y="1554480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79776" y="226771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Prescrizioni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05072" y="1371600"/>
            <a:ext cx="1133856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5072" y="1554480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005072" y="226771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Scadenze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30368" y="1371600"/>
            <a:ext cx="1133856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1554480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230368" y="226771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55664" y="1371600"/>
            <a:ext cx="1133856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1554480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55664" y="226771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80960" y="1371600"/>
            <a:ext cx="1133856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1554480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🏗️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680960" y="226771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Produzione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41832" y="3200400"/>
            <a:ext cx="1133856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3383280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♻️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41832" y="409651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Rifiuti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67128" y="3200400"/>
            <a:ext cx="1133856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67128" y="3383280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2167128" y="409651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92424" y="3200400"/>
            <a:ext cx="1133856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3383280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392424" y="409651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43016" y="3200400"/>
            <a:ext cx="1133856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43016" y="3383280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📑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5843016" y="409651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Reportistica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68312" y="3200400"/>
            <a:ext cx="1133856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68312" y="3383280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7068312" y="409651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Utenti &amp; Ruoli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4617720" y="3200400"/>
            <a:ext cx="1133856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4617720" y="3383280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42" name="Text 31"/>
          <p:cNvSpPr/>
          <p:nvPr/>
        </p:nvSpPr>
        <p:spPr>
          <a:xfrm>
            <a:off x="4617720" y="409651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Wiki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2743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474720"/>
            <a:ext cx="2286000" cy="16687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🌿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Grazie per l'attenzione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Siamo a disposizione per domande, approfondimenti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per pianificare insieme la fase di avvio.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4572000" cy="0"/>
          </a:xfrm>
          <a:prstGeom prst="line">
            <a:avLst/>
          </a:prstGeom>
          <a:noFill/>
          <a:ln w="25400">
            <a:solidFill>
              <a:srgbClr val="4091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03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Domande &amp; Approfondimenti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AIA Management System - Presentazione Cliente</dc:title>
  <dc:subject>PptxGenJS Presentation</dc:subject>
  <dc:creator>AIA Management</dc:creator>
  <cp:lastModifiedBy>AIA Management</cp:lastModifiedBy>
  <cp:revision>1</cp:revision>
  <dcterms:created xsi:type="dcterms:W3CDTF">2026-03-14T19:15:57Z</dcterms:created>
  <dcterms:modified xsi:type="dcterms:W3CDTF">2026-03-14T19:15:57Z</dcterms:modified>
</cp:coreProperties>
</file>