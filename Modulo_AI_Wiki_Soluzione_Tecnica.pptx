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50800"/>
          </a:xfrm>
          <a:prstGeom prst="rect">
            <a:avLst/>
          </a:prstGeom>
          <a:solidFill>
            <a:srgbClr val="B0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n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777240"/>
            <a:ext cx="2926080" cy="18774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651760"/>
            <a:ext cx="99943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B2B2B"/>
                </a:solidFill>
                <a:latin typeface="Calibri"/>
              </a:rPr>
              <a:t>Modulo AI Wiki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29000"/>
            <a:ext cx="9994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8595B"/>
                </a:solidFill>
                <a:latin typeface="Calibri"/>
              </a:rPr>
              <a:t>Assistente di conoscenza per AIA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43400"/>
            <a:ext cx="99943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0173A"/>
                </a:solidFill>
                <a:latin typeface="Calibri"/>
              </a:rPr>
              <a:t>Soluzione tecnica e piano di adozione — Ambienti di Stage e Produzione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8595B"/>
                </a:solidFill>
                <a:latin typeface="Calibri"/>
              </a:rPr>
              <a:t>Fincons Group  ·  Luglio 2026  ·  Versione 1.0  ·  Riservato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B2B2B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3108960" cy="38100"/>
          </a:xfrm>
          <a:prstGeom prst="rect">
            <a:avLst/>
          </a:prstGeom>
          <a:solidFill>
            <a:srgbClr val="B0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in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325880" cy="8507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B0173A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2B2B2B"/>
                </a:solidFill>
                <a:latin typeface="Calibri"/>
              </a:rPr>
              <a:t>Un assistente AI sui dati AIA — </a:t>
            </a:r>
            <a:r>
              <a:rPr sz="1700" b="0" i="0">
                <a:solidFill>
                  <a:srgbClr val="58595B"/>
                </a:solidFill>
                <a:latin typeface="Calibri"/>
              </a:rPr>
              <a:t>wiki navigabile e chat in linguaggio naturale su documenti autorizzativi, prescrizioni, scadenze, camini, produzione e rifiuti, con fonti sempre citate.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B0173A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2B2B2B"/>
                </a:solidFill>
                <a:latin typeface="Calibri"/>
              </a:rPr>
              <a:t>Soluzione già collaudata — </a:t>
            </a:r>
            <a:r>
              <a:rPr sz="1700" b="0" i="0">
                <a:solidFill>
                  <a:srgbClr val="58595B"/>
                </a:solidFill>
                <a:latin typeface="Calibri"/>
              </a:rPr>
              <a:t>porting del modulo AI di PerformPlus ESG (Fincons), adattato al dominio AIA: tempi e rischi ridotti, piano di lavoro di ~2 settimane.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B0173A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2B2B2B"/>
                </a:solidFill>
                <a:latin typeface="Calibri"/>
              </a:rPr>
              <a:t>Capacità agentiche — </a:t>
            </a:r>
            <a:r>
              <a:rPr sz="1700" b="0" i="0">
                <a:solidFill>
                  <a:srgbClr val="58595B"/>
                </a:solidFill>
                <a:latin typeface="Calibri"/>
              </a:rPr>
              <a:t>grafici, previsioni deterministiche e bozze di report Word/PowerPoint generate su richiesta.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B0173A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2B2B2B"/>
                </a:solidFill>
                <a:latin typeface="Calibri"/>
              </a:rPr>
              <a:t>Costi sotto controllo — </a:t>
            </a:r>
            <a:r>
              <a:rPr sz="1700" b="0" i="0">
                <a:solidFill>
                  <a:srgbClr val="58595B"/>
                </a:solidFill>
                <a:latin typeface="Calibri"/>
              </a:rPr>
              <a:t>embedding e ricerca locali (costo zero); unico costo variabile l'API del modello linguistico, con tetto giornaliero configurabile.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B0173A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2B2B2B"/>
                </a:solidFill>
                <a:latin typeface="Calibri"/>
              </a:rPr>
              <a:t>Dati in Italia/UE — </a:t>
            </a:r>
            <a:r>
              <a:rPr sz="1700" b="0" i="0">
                <a:solidFill>
                  <a:srgbClr val="58595B"/>
                </a:solidFill>
                <a:latin typeface="Calibri"/>
              </a:rPr>
              <a:t>infrastruttura in datacenter italiani o europei, GDPR-compliant; verso l'esterno transita solo la conversazione con l'LLM, regolata da DPA.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B2B2B"/>
                </a:solidFill>
                <a:latin typeface="Calibri"/>
              </a:rPr>
              <a:t>Come funziona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3108960" cy="38100"/>
          </a:xfrm>
          <a:prstGeom prst="rect">
            <a:avLst/>
          </a:prstGeom>
          <a:solidFill>
            <a:srgbClr val="B0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8595B"/>
                </a:solidFill>
                <a:latin typeface="Calibri"/>
              </a:rPr>
              <a:t>dal caricamento dei documenti alla risposta con fonti</a:t>
            </a:r>
          </a:p>
        </p:txBody>
      </p:sp>
      <p:pic>
        <p:nvPicPr>
          <p:cNvPr id="5" name="Picture 4" descr="logo_fin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325880" cy="850715"/>
          </a:xfrm>
          <a:prstGeom prst="rect">
            <a:avLst/>
          </a:prstGeom>
        </p:spPr>
      </p:pic>
      <p:pic>
        <p:nvPicPr>
          <p:cNvPr id="6" name="Picture 5" descr="quattro_pas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12620"/>
            <a:ext cx="11430000" cy="3889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0352" y="638251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8595B"/>
                </a:solidFill>
                <a:latin typeface="Calibri"/>
              </a:rPr>
              <a:t>Esempi: “Quali scadenze AIA nei prossimi 3 mesi?” · “Superamenti del camino E1 nell'ultimo anno” · “Grafico dei rifiuti per codice CER”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B2B2B"/>
                </a:solidFill>
                <a:latin typeface="Calibri"/>
              </a:rPr>
              <a:t>Le quattro funzionalità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3108960" cy="38100"/>
          </a:xfrm>
          <a:prstGeom prst="rect">
            <a:avLst/>
          </a:prstGeom>
          <a:solidFill>
            <a:srgbClr val="B0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in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325880" cy="85071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1645920"/>
            <a:ext cx="525780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/>
          <a:lstStyle/>
          <a:p>
            <a:pPr algn="ctr"/>
            <a:r>
              <a:rPr sz="1700" b="1" i="0">
                <a:solidFill>
                  <a:srgbClr val="2A78D6"/>
                </a:solidFill>
                <a:latin typeface="Calibri"/>
              </a:rPr>
              <a:t>Wiki della conoscenza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58595B"/>
                </a:solidFill>
                <a:latin typeface="Calibri"/>
              </a:rPr>
              <a:t>Pagine generate automaticamente da documenti e dati, collegate da relazioni navigabili (stabilimento → prescrizioni → scadenze…).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25780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/>
          <a:lstStyle/>
          <a:p>
            <a:pPr algn="ctr"/>
            <a:r>
              <a:rPr sz="1700" b="1" i="0">
                <a:solidFill>
                  <a:srgbClr val="1BAF7A"/>
                </a:solidFill>
                <a:latin typeface="Calibri"/>
              </a:rPr>
              <a:t>Chat RAG sui propri dati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58595B"/>
                </a:solidFill>
                <a:latin typeface="Calibri"/>
              </a:rPr>
              <a:t>Risposte fondate esclusivamente sulla conoscenza aziendale indicizzata; ogni risposta cita le fonti (documenti e dati di sistema).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069080"/>
            <a:ext cx="525780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/>
          <a:lstStyle/>
          <a:p>
            <a:pPr algn="ctr"/>
            <a:r>
              <a:rPr sz="1700" b="1" i="0">
                <a:solidFill>
                  <a:srgbClr val="EB6834"/>
                </a:solidFill>
                <a:latin typeface="Calibri"/>
              </a:rPr>
              <a:t>Chat agentica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58595B"/>
                </a:solidFill>
                <a:latin typeface="Calibri"/>
              </a:rPr>
              <a:t>Grafici, previsioni deterministiche, bozze di report Word e presentazioni PowerPoint tramite function-calling.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069080"/>
            <a:ext cx="525780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/>
          <a:lstStyle/>
          <a:p>
            <a:pPr algn="ctr"/>
            <a:r>
              <a:rPr sz="1700" b="1" i="0">
                <a:solidFill>
                  <a:srgbClr val="4A3AA7"/>
                </a:solidFill>
                <a:latin typeface="Calibri"/>
              </a:rPr>
              <a:t>Ingestione automatica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58595B"/>
                </a:solidFill>
                <a:latin typeface="Calibri"/>
              </a:rPr>
              <a:t>Ogni documento caricato, modificato o eliminato nel modulo Documenti viene indicizzato in modo asincrono, senza intervento manuale.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B2B2B"/>
                </a:solidFill>
                <a:latin typeface="Calibri"/>
              </a:rPr>
              <a:t>La mappa della conoscenza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3108960" cy="38100"/>
          </a:xfrm>
          <a:prstGeom prst="rect">
            <a:avLst/>
          </a:prstGeom>
          <a:solidFill>
            <a:srgbClr val="B0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8595B"/>
                </a:solidFill>
                <a:latin typeface="Calibri"/>
              </a:rPr>
              <a:t>i dati già presenti nel sistema entrano nel grafo a costo zero</a:t>
            </a:r>
          </a:p>
        </p:txBody>
      </p:sp>
      <p:pic>
        <p:nvPicPr>
          <p:cNvPr id="5" name="Picture 4" descr="logo_fin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325880" cy="850715"/>
          </a:xfrm>
          <a:prstGeom prst="rect">
            <a:avLst/>
          </a:prstGeom>
        </p:spPr>
      </p:pic>
      <p:pic>
        <p:nvPicPr>
          <p:cNvPr id="6" name="Picture 5" descr="mappa_conoscen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9472" y="1234440"/>
            <a:ext cx="571401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B2B2B"/>
                </a:solidFill>
                <a:latin typeface="Calibri"/>
              </a:rPr>
              <a:t>Soluzione tecnica —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3108960" cy="38100"/>
          </a:xfrm>
          <a:prstGeom prst="rect">
            <a:avLst/>
          </a:prstGeom>
          <a:solidFill>
            <a:srgbClr val="B0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in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325880" cy="85071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8813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383280"/>
                <a:gridCol w="5120640"/>
              </a:tblGrid>
              <a:tr h="53848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Componente</a:t>
                      </a:r>
                    </a:p>
                  </a:txBody>
                  <a:tcPr anchor="ctr">
                    <a:solidFill>
                      <a:srgbClr val="B01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Tecnologia</a:t>
                      </a:r>
                    </a:p>
                  </a:txBody>
                  <a:tcPr anchor="ctr">
                    <a:solidFill>
                      <a:srgbClr val="B01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anchor="ctr">
                    <a:solidFill>
                      <a:srgbClr val="B0173A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B2B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Java 21 · Spring Boot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modulo AI integrato nel backend esistente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B2B"/>
                          </a:solidFill>
                          <a:latin typeface="Calibri"/>
                        </a:rPr>
                        <a:t>Orchestrazione LLM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LangChain4j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multi-provider: Claude di default, on-prem configurabile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B2B"/>
                          </a:solidFill>
                          <a:latin typeface="Calibri"/>
                        </a:rPr>
                        <a:t>Modelli linguistici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Claude (Haiku/Sonnet/Opus)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routing per complessità + prompt caching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B2B"/>
                          </a:solidFill>
                          <a:latin typeface="Calibri"/>
                        </a:rPr>
                        <a:t>Embedding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ONNX in-process (MiniLM)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locali e gratuiti: nulla esce per l'indicizzazione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B2B"/>
                          </a:solidFill>
                          <a:latin typeface="Calibri"/>
                        </a:rPr>
                        <a:t>Vector store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PostgreSQL 16 + pgvector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stesso DB applicativo, indici HNSW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B2B"/>
                          </a:solidFill>
                          <a:latin typeface="Calibri"/>
                        </a:rPr>
                        <a:t>Estrazione testi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Apache Tika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PDF, Office e formati comuni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B2B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Angular 19 · Bootstrap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nuova sezione “Assistente AI”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B2B"/>
                          </a:solidFill>
                          <a:latin typeface="Calibri"/>
                        </a:rPr>
                        <a:t>Guardrail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Budget token giornaliero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oltre soglia HTTP 429: tetto di spesa certo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B2B2B"/>
                </a:solidFill>
                <a:latin typeface="Calibri"/>
              </a:rPr>
              <a:t>Architettura: Stage e Produzione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3108960" cy="38100"/>
          </a:xfrm>
          <a:prstGeom prst="rect">
            <a:avLst/>
          </a:prstGeom>
          <a:solidFill>
            <a:srgbClr val="B0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in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325880" cy="850715"/>
          </a:xfrm>
          <a:prstGeom prst="rect">
            <a:avLst/>
          </a:prstGeom>
        </p:spPr>
      </p:pic>
      <p:pic>
        <p:nvPicPr>
          <p:cNvPr id="5" name="Picture 4" descr="architet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243" y="1325880"/>
            <a:ext cx="976503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B2B2B"/>
                </a:solidFill>
                <a:latin typeface="Calibri"/>
              </a:rPr>
              <a:t>Dimensionamento e provider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3108960" cy="38100"/>
          </a:xfrm>
          <a:prstGeom prst="rect">
            <a:avLst/>
          </a:prstGeom>
          <a:solidFill>
            <a:srgbClr val="B0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in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325880" cy="85071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566160"/>
                <a:gridCol w="4846320"/>
              </a:tblGrid>
              <a:tr h="4800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Ambiente</a:t>
                      </a:r>
                    </a:p>
                  </a:txBody>
                  <a:tcPr anchor="ctr">
                    <a:solidFill>
                      <a:srgbClr val="B01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Risorse</a:t>
                      </a:r>
                    </a:p>
                  </a:txBody>
                  <a:tcPr anchor="ctr">
                    <a:solidFill>
                      <a:srgbClr val="B01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anchor="ctr">
                    <a:solidFill>
                      <a:srgbClr val="B0173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B2B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1 VM · 4 vCPU · 8 GB · 100 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stack completo + runner CI/CD · snapshot settimanale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B2B"/>
                          </a:solidFill>
                          <a:latin typeface="Calibri"/>
                        </a:rPr>
                        <a:t>Produzione — app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1 VM · 8 vCPU · 16 GB · 160 GB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Nginx+TLS, backend, modulo AI (ONNX, picchi Tika)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B2B"/>
                          </a:solidFill>
                          <a:latin typeface="Calibri"/>
                        </a:rPr>
                        <a:t>Produzione — 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1 VM · 4 vCPU · 8 GB · 100 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PostgreSQL 16 + pgvector · backup giornaliero + dump off-site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8862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651760"/>
                <a:gridCol w="429768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Provider</a:t>
                      </a:r>
                    </a:p>
                  </a:txBody>
                  <a:tcPr anchor="ctr">
                    <a:solidFill>
                      <a:srgbClr val="B01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Datacenter</a:t>
                      </a:r>
                    </a:p>
                  </a:txBody>
                  <a:tcPr anchor="ctr">
                    <a:solidFill>
                      <a:srgbClr val="B01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 anchor="ctr">
                    <a:solidFill>
                      <a:srgbClr val="B01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Stage + Prod</a:t>
                      </a:r>
                    </a:p>
                  </a:txBody>
                  <a:tcPr anchor="ctr">
                    <a:solidFill>
                      <a:srgbClr val="B017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B2B"/>
                          </a:solidFill>
                          <a:latin typeface="Calibri"/>
                        </a:rPr>
                        <a:t>Aruba Cloud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Italia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provider italiano, dati sul territorio nazionale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~155 €/mese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B2B"/>
                          </a:solidFill>
                          <a:latin typeface="Calibri"/>
                        </a:rPr>
                        <a:t>Hetzner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Germania/Finlandia (UE)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miglior prezzo/prestazioni in ambito UE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~36 €/mese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B2B"/>
                          </a:solidFill>
                          <a:latin typeface="Calibri"/>
                        </a:rPr>
                        <a:t>Azure Italy North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Milano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opzione enterprise/PaaS se richiesta dalle policy 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~3–5× Aruba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0352" y="638251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8595B"/>
                </a:solidFill>
                <a:latin typeface="Calibri"/>
              </a:rPr>
              <a:t>Raccomandazione: Aruba se la residenza del dato in Italia è un requisito; Hetzner se prevale il costo. Stack identico (Docker): migrazione a basso sforzo.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B2B2B"/>
                </a:solidFill>
                <a:latin typeface="Calibri"/>
              </a:rPr>
              <a:t>Privacy, GDPR e provider LLM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3108960" cy="38100"/>
          </a:xfrm>
          <a:prstGeom prst="rect">
            <a:avLst/>
          </a:prstGeom>
          <a:solidFill>
            <a:srgbClr val="B0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in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325880" cy="8507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B0173A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2B2B2B"/>
                </a:solidFill>
                <a:latin typeface="Calibri"/>
              </a:rPr>
              <a:t>Dati a riposo — </a:t>
            </a:r>
            <a:r>
              <a:rPr sz="1700" b="0" i="0">
                <a:solidFill>
                  <a:srgbClr val="58595B"/>
                </a:solidFill>
                <a:latin typeface="Calibri"/>
              </a:rPr>
              <a:t>documenti, indici vettoriali e grafo restano esclusivamente sui server dell'ambiente (Italia/UE).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B0173A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2B2B2B"/>
                </a:solidFill>
                <a:latin typeface="Calibri"/>
              </a:rPr>
              <a:t>Dati in transito — </a:t>
            </a:r>
            <a:r>
              <a:rPr sz="1700" b="0" i="0">
                <a:solidFill>
                  <a:srgbClr val="58595B"/>
                </a:solidFill>
                <a:latin typeface="Calibri"/>
              </a:rPr>
              <a:t>solo il contesto della singola conversazione raggiunge il provider LLM, nell'ambito di un Data Processing Agreement.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B0173A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2B2B2B"/>
                </a:solidFill>
                <a:latin typeface="Calibri"/>
              </a:rPr>
              <a:t>Minimizzazione — </a:t>
            </a:r>
            <a:r>
              <a:rPr sz="1700" b="0" i="0">
                <a:solidFill>
                  <a:srgbClr val="58595B"/>
                </a:solidFill>
                <a:latin typeface="Calibri"/>
              </a:rPr>
              <a:t>cap di contesto configurabili limitano quanto testo viene inviato per ogni domanda.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B0173A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2B2B2B"/>
                </a:solidFill>
                <a:latin typeface="Calibri"/>
              </a:rPr>
              <a:t>Perimetro applicativo — </a:t>
            </a:r>
            <a:r>
              <a:rPr sz="1700" b="0" i="0">
                <a:solidFill>
                  <a:srgbClr val="58595B"/>
                </a:solidFill>
                <a:latin typeface="Calibri"/>
              </a:rPr>
              <a:t>ruoli e accesso per stabilimento già in uso nel sistema; modulo attivabile/disattivabile con feature flag.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B0173A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2B2B2B"/>
                </a:solidFill>
                <a:latin typeface="Calibri"/>
              </a:rPr>
              <a:t>Opzione sovranità totale — </a:t>
            </a:r>
            <a:r>
              <a:rPr sz="1700" b="0" i="0">
                <a:solidFill>
                  <a:srgbClr val="58595B"/>
                </a:solidFill>
                <a:latin typeface="Calibri"/>
              </a:rPr>
              <a:t>passaggio a LLM open-source on-premise (Ollama/vLLM su GPU) via sola configurazione, se richiesto.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B2B2B"/>
                </a:solidFill>
                <a:latin typeface="Calibri"/>
              </a:rPr>
              <a:t>Costi — il costo variabile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3108960" cy="38100"/>
          </a:xfrm>
          <a:prstGeom prst="rect">
            <a:avLst/>
          </a:prstGeom>
          <a:solidFill>
            <a:srgbClr val="B0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8595B"/>
                </a:solidFill>
                <a:latin typeface="Calibri"/>
              </a:rPr>
              <a:t>~90% del costo variabile è nelle risposte dell'assistente; tutto il resto è locale, a costo zero</a:t>
            </a:r>
          </a:p>
        </p:txBody>
      </p:sp>
      <p:pic>
        <p:nvPicPr>
          <p:cNvPr id="5" name="Picture 4" descr="logo_fin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325880" cy="850715"/>
          </a:xfrm>
          <a:prstGeom prst="rect">
            <a:avLst/>
          </a:prstGeom>
        </p:spPr>
      </p:pic>
      <p:pic>
        <p:nvPicPr>
          <p:cNvPr id="6" name="Picture 5" descr="chart_costo_dom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771" y="1600200"/>
            <a:ext cx="9501977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0352" y="638251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8595B"/>
                </a:solidFill>
                <a:latin typeface="Calibri"/>
              </a:rPr>
              <a:t>Stima produzione (2.000 domande/mese): ~40 €/mese di API, intervallo prudenziale 20–100 €. Tetto massimo garantito dal budget giornaliero.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B2B2B"/>
                </a:solidFill>
                <a:latin typeface="Calibri"/>
              </a:rPr>
              <a:t>Costi — API cloud o modello on-premise?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3108960" cy="38100"/>
          </a:xfrm>
          <a:prstGeom prst="rect">
            <a:avLst/>
          </a:prstGeom>
          <a:solidFill>
            <a:srgbClr val="B0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in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325880" cy="850715"/>
          </a:xfrm>
          <a:prstGeom prst="rect">
            <a:avLst/>
          </a:prstGeom>
        </p:spPr>
      </p:pic>
      <p:pic>
        <p:nvPicPr>
          <p:cNvPr id="5" name="Picture 4" descr="chart_scenari_l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559000"/>
            <a:ext cx="9784080" cy="447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38251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8595B"/>
                </a:solidFill>
                <a:latin typeface="Calibri"/>
              </a:rPr>
              <a:t>L'API cloud offre il miglior rapporto qualità/costo; l'on-premise si giustifica solo per requisiti di sovranità del dato (GPU dedicata).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B2B2B"/>
                </a:solidFill>
                <a:latin typeface="Calibri"/>
              </a:rPr>
              <a:t>Costi — totale mensile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3108960" cy="38100"/>
          </a:xfrm>
          <a:prstGeom prst="rect">
            <a:avLst/>
          </a:prstGeom>
          <a:solidFill>
            <a:srgbClr val="B0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8595B"/>
                </a:solidFill>
                <a:latin typeface="Calibri"/>
              </a:rPr>
              <a:t>stage + produzione + LLM, due scenari provider</a:t>
            </a:r>
          </a:p>
        </p:txBody>
      </p:sp>
      <p:pic>
        <p:nvPicPr>
          <p:cNvPr id="5" name="Picture 4" descr="logo_fin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325880" cy="850715"/>
          </a:xfrm>
          <a:prstGeom prst="rect">
            <a:avLst/>
          </a:prstGeom>
        </p:spPr>
      </p:pic>
      <p:pic>
        <p:nvPicPr>
          <p:cNvPr id="6" name="Picture 5" descr="chart_t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4556"/>
            <a:ext cx="10332720" cy="36489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0352" y="638251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8595B"/>
                </a:solidFill>
                <a:latin typeface="Calibri"/>
              </a:rPr>
              <a:t>Prezzi indicativi, listini luglio 2026, IVA esclusa · setup ambienti incluso nel piano di lavoro.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B2B2B"/>
                </a:solidFill>
                <a:latin typeface="Calibri"/>
              </a:rPr>
              <a:t>Piano di lavoro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3108960" cy="38100"/>
          </a:xfrm>
          <a:prstGeom prst="rect">
            <a:avLst/>
          </a:prstGeom>
          <a:solidFill>
            <a:srgbClr val="B0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8595B"/>
                </a:solidFill>
                <a:latin typeface="Calibri"/>
              </a:rPr>
              <a:t>circa due settimane dal kick-off al go-live</a:t>
            </a:r>
          </a:p>
        </p:txBody>
      </p:sp>
      <p:pic>
        <p:nvPicPr>
          <p:cNvPr id="5" name="Picture 4" descr="logo_fin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325880" cy="850715"/>
          </a:xfrm>
          <a:prstGeom prst="rect">
            <a:avLst/>
          </a:prstGeom>
        </p:spPr>
      </p:pic>
      <p:pic>
        <p:nvPicPr>
          <p:cNvPr id="6" name="Picture 5" descr="chart_gan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811738"/>
            <a:ext cx="9966960" cy="36002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0352" y="638251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8595B"/>
                </a:solidFill>
                <a:latin typeface="Calibri"/>
              </a:rPr>
              <a:t>Fase 1: porting backend · Fase 2: setup ambienti · Fase 3: frontend · Fase 4: verifica end-to-end su Stage · Go-live in Produzione con affiancamento.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B2B2B"/>
                </a:solidFill>
                <a:latin typeface="Calibri"/>
              </a:rPr>
              <a:t>Rischi principali e mitigazioni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3108960" cy="38100"/>
          </a:xfrm>
          <a:prstGeom prst="rect">
            <a:avLst/>
          </a:prstGeom>
          <a:solidFill>
            <a:srgbClr val="B0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in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325880" cy="85071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675120"/>
              </a:tblGrid>
              <a:tr h="6705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Rischio</a:t>
                      </a:r>
                    </a:p>
                  </a:txBody>
                  <a:tcPr anchor="ctr">
                    <a:solidFill>
                      <a:srgbClr val="B01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Mitigazione</a:t>
                      </a:r>
                    </a:p>
                  </a:txBody>
                  <a:tcPr anchor="ctr">
                    <a:solidFill>
                      <a:srgbClr val="B0173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B2B"/>
                          </a:solidFill>
                          <a:latin typeface="Calibri"/>
                        </a:rPr>
                        <a:t>Documenti scansionati di bassa qualità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pipeline OCR locale in ingestione; verifica campione in collaudo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B2B"/>
                          </a:solidFill>
                          <a:latin typeface="Calibri"/>
                        </a:rPr>
                        <a:t>Crescita imprevista dei costi API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budget token giornaliero con blocco automatico e monitoraggio consumi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B2B"/>
                          </a:solidFill>
                          <a:latin typeface="Calibri"/>
                        </a:rPr>
                        <a:t>Requisiti privacy più stringenti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passaggio a LLM on-premise via configurazione, senza modifiche al codice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B2B"/>
                          </a:solidFill>
                          <a:latin typeface="Calibri"/>
                        </a:rPr>
                        <a:t>Picchi di carico in ingestione massiva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indicizzazione asincrona con coda; VM dimensionate con margine</a:t>
                      </a:r>
                    </a:p>
                  </a:txBody>
                  <a:tcPr anchor="ctr">
                    <a:solidFill>
                      <a:srgbClr val="F5F3F0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B2B"/>
                          </a:solidFill>
                          <a:latin typeface="Calibri"/>
                        </a:rPr>
                        <a:t>Indisponibilità del provider LLM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8595B"/>
                          </a:solidFill>
                          <a:latin typeface="Calibri"/>
                        </a:rPr>
                        <a:t>il sistema resta operativo; solo la chat AI temporaneamente non disponibile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310128"/>
            <a:ext cx="12191695" cy="50800"/>
          </a:xfrm>
          <a:prstGeom prst="rect">
            <a:avLst/>
          </a:prstGeom>
          <a:solidFill>
            <a:srgbClr val="B0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n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463040"/>
            <a:ext cx="2286000" cy="14667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3657600"/>
            <a:ext cx="99943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B2B2B"/>
                </a:solidFill>
                <a:latin typeface="Calibri"/>
              </a:rPr>
              <a:t>Grazie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480560"/>
            <a:ext cx="99943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8595B"/>
                </a:solidFill>
                <a:latin typeface="Calibri"/>
              </a:rPr>
              <a:t>Fincons Group — Direzione Tecnica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8595B"/>
                </a:solidFill>
                <a:latin typeface="Calibri"/>
              </a:rPr>
              <a:t>Documento riservato · Stime economiche indicative, soggette a conferma in sede di offerta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